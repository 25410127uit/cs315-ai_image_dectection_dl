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XGBoost (AUC=0.920)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0.45</c:v>
                </c:pt>
                <c:pt idx="2">
                  <c:v>0.65</c:v>
                </c:pt>
                <c:pt idx="3">
                  <c:v>0.8</c:v>
                </c:pt>
                <c:pt idx="4">
                  <c:v>0.88</c:v>
                </c:pt>
                <c:pt idx="5">
                  <c:v>0.94</c:v>
                </c:pt>
                <c:pt idx="6">
                  <c:v>0.97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AE-4F7E-BA22-CE2A8CB43A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 (AUC=0.904)</c:v>
                </c:pt>
              </c:strCache>
            </c:strRef>
          </c:tx>
          <c:spPr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0.38</c:v>
                </c:pt>
                <c:pt idx="2">
                  <c:v>0.57999999999999996</c:v>
                </c:pt>
                <c:pt idx="3">
                  <c:v>0.76</c:v>
                </c:pt>
                <c:pt idx="4">
                  <c:v>0.85</c:v>
                </c:pt>
                <c:pt idx="5">
                  <c:v>0.92</c:v>
                </c:pt>
                <c:pt idx="6">
                  <c:v>0.96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AE-4F7E-BA22-CE2A8CB43A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ResNet50 (AUC=0.999)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0.95</c:v>
                </c:pt>
                <c:pt idx="2">
                  <c:v>0.98</c:v>
                </c:pt>
                <c:pt idx="3">
                  <c:v>0.99</c:v>
                </c:pt>
                <c:pt idx="4">
                  <c:v>0.995</c:v>
                </c:pt>
                <c:pt idx="5">
                  <c:v>0.998</c:v>
                </c:pt>
                <c:pt idx="6">
                  <c:v>0.999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AE-4F7E-BA22-CE2A8CB43AC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EfficientNet (AUC=0.999)</c:v>
                </c:pt>
              </c:strCache>
            </c:strRef>
          </c:tx>
          <c:spPr>
            <a:ln w="25400" cap="flat">
              <a:solidFill>
                <a:srgbClr val="14B8A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0.94</c:v>
                </c:pt>
                <c:pt idx="2">
                  <c:v>0.97</c:v>
                </c:pt>
                <c:pt idx="3">
                  <c:v>0.99</c:v>
                </c:pt>
                <c:pt idx="4">
                  <c:v>0.99399999999999999</c:v>
                </c:pt>
                <c:pt idx="5">
                  <c:v>0.997</c:v>
                </c:pt>
                <c:pt idx="6">
                  <c:v>0.999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1AE-4F7E-BA22-CE2A8CB43AC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ViT-B/16 (AUC=0.999)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0.96</c:v>
                </c:pt>
                <c:pt idx="2">
                  <c:v>0.98</c:v>
                </c:pt>
                <c:pt idx="3">
                  <c:v>0.995</c:v>
                </c:pt>
                <c:pt idx="4">
                  <c:v>0.997</c:v>
                </c:pt>
                <c:pt idx="5">
                  <c:v>0.999</c:v>
                </c:pt>
                <c:pt idx="6">
                  <c:v>0.999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1AE-4F7E-BA22-CE2A8CB43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4A6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A4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CF-494C-8B52-6C253A1A82C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ECF-494C-8B52-6C253A1A82C3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ECF-494C-8B52-6C253A1A82C3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ECF-494C-8B52-6C253A1A82C3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ECF-494C-8B52-6C253A1A82C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FFT-XGBoost</c:v>
                </c:pt>
                <c:pt idx="1">
                  <c:v>FFT-SVM</c:v>
                </c:pt>
                <c:pt idx="2">
                  <c:v>ResNet50</c:v>
                </c:pt>
                <c:pt idx="3">
                  <c:v>EfficientNet-B0</c:v>
                </c:pt>
                <c:pt idx="4">
                  <c:v>ViT-B/16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84.19</c:v>
                </c:pt>
                <c:pt idx="1">
                  <c:v>82.74</c:v>
                </c:pt>
                <c:pt idx="2">
                  <c:v>98.61</c:v>
                </c:pt>
                <c:pt idx="3">
                  <c:v>98.49</c:v>
                </c:pt>
                <c:pt idx="4">
                  <c:v>98.8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ECF-494C-8B52-6C253A1A82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2A4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10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Hội đồng, em tên là [Tên]. Đồ án này xây dựng và so sánh 5 mô hình phát hiện ảnh do AI tạo ra trên dataset CIFAKE.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mục tiêu: So sánh 5 mô hình, đánh giá đa chỉ số, xây demo Streamlit, phân tích rút ra bài học thực tế.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Ảnh AI ngày càng chân thực. Đặt ra nguy cơ tin giả, deepfake. Cần hệ thống tự động phân loại.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CIFAKE gồm 120k ảnh, cân bằng 50/50 giữa REAL (CIFAR-10) và FAKE (Stable Diffusion). Tiền xử lý: resize 224x224, augmentation, chuẩn hóa ImageNet.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mô hình thuộc 3 nhóm: ML cổ điển (FFT+XGBoost, FFT+SVM), CNN (ResNet50, EfficientNet-B0), Transformer (ViT-B/16). Thêm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FFT pipeline: ảnh → biến đổi Fourier → 4096 đặc trưng → XGBoost/SVM. XGBoost 84.19%, SVM 82.74%. Nhanh, không cần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ResNet50: 98.61%, 25.6M params, fine-tune 5 epochs. EfficientNet-B0: 98.49%, chỉ 5.3M params — hiệu quả hơn nhiều về tài nguyên.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 chia ảnh thành 196 patch 16x16, áp dụng Self-Attention. Dù train ít dữ liệu hơn (20K), vẫn đạt 98.80% — cao nhất trong 5 mô hình.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Confusion matrix 4 mô hình. ResNet50 và EfficientNet sai rất ít (~300/20000). ViT sai chỉ 48/4000 ảnh. XGBoost sai nhiều hơn ~1600/10000.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 curve cho thấy 3 mô hình Deep Learning có AUC ~0.999, gần như hoàn hảo. XGBoost 0.920 và SVM 0.904 thấp hơn đáng kể.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ResNet50 đạt 98.61%, EfficientNet 98.49%, ViT cao nhất 98.80%. ML cổ điển chỉ ~82-84%. Khoảng cách ~15 điểm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điểm phân tích: DL vs ML cổ điển, ViT hiệu quả, EfficientNet thực tế nhất, Distribution Shift là thách thức.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Streamlit: upload ảnh → tiền xử lý → 5 models → ensemble. Ảnh CIFAKE 32x32 cho kết quả chuẩn, ảnh internet có thể bị Distribution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luận: ViT-B/16 tốt nhất 98.8%, EfficientNet thực tế nhất. Hướng tương lai: dataset đa dạng hơn, Grad-CAM, REST API, deepfake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Hội đồng. Mời thầy cô đặt câu hỏi.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 ÁN MÔN HỌC  •  MACHINE LEARNING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ẢNH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AI TẠO RA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Ứng dụng Machine Learning trên bộ dữ liệu CIFAKE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0" y="374904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CIFAKE  |  5 Mô Hình  |  Accuracy lên đến 98.8%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ĐỒ ÁN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9768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051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6984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&amp; So sánh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1848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Triển khai 5 mô hình ML thuộc 3 thế hệ kiến trúc khác nhau: ML cổ điển, CNN và Vision Transformer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64608" y="1051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051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06984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toàn diện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92040" y="161848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qua Accuracy, Precision, Recall, F1-Score và ROC-AUC trên cùng bộ test set CIFAKE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" y="301752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1E3A5F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9768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1089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12724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ứng dụng thực tế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" y="367588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web app Streamlit cho phép upload ảnh và nhận kết quả phân loại REAL/FAKE tức thì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017520"/>
            <a:ext cx="4206240" cy="1874520"/>
          </a:xfrm>
          <a:prstGeom prst="roundRect">
            <a:avLst>
              <a:gd name="adj" fmla="val 4878"/>
            </a:avLst>
          </a:prstGeom>
          <a:solidFill>
            <a:srgbClr val="1E3A5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4864608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10896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12724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&amp; Rút ra bài học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92040" y="367588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điểm mạnh, yếu từng mô hình và đề xuất hướng cải tiến cho bài toán thực tế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ĐẶT VẤN ĐỀ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2344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AI ngày càng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chân thực hơn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283464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Diffusion, DALL·E, Midjourney tạo ra ảnh khó phân biệt bằng mắt thường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23444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giả &amp; deepfake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83280" y="283464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giả được dùng trong tin tức sai lệch, gian lận danh tính và vi phạm bản quyền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23444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63640" y="20116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hệ thống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tự động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263640" y="283464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Mắt người không đủ khả năng, cần mô hình ML để phân loại ảnh thật / ảnh AI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365760" y="466344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Máy tính có thể phân biệt ảnh thật và ảnh AI không? Phương pháp nào hiệu quả nhất?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CIFAKE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977640"/>
          </a:xfrm>
          <a:prstGeom prst="roundRect">
            <a:avLst>
              <a:gd name="adj" fmla="val 2299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097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 (REAL) + Stable Diffusion 1.4 (FAKE)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thước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6459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× 32 px mỗi ảnh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ảnh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194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ảnh (cân bằng 50/50)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7432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ảnh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91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32918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ảnh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bố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8404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 &amp; Lotfi, IEEE Access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144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09160" y="1783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REAL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91440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03720" y="1143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783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FAKE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(train)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2540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063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916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REAL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(test)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834640"/>
            <a:ext cx="2011680" cy="1691640"/>
          </a:xfrm>
          <a:prstGeom prst="roundRect">
            <a:avLst>
              <a:gd name="adj" fmla="val 5405"/>
            </a:avLst>
          </a:prstGeom>
          <a:solidFill>
            <a:srgbClr val="1E3A5F"/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3063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0372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FAKE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(test)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645152"/>
            <a:ext cx="4206240" cy="347472"/>
          </a:xfrm>
          <a:prstGeom prst="roundRect">
            <a:avLst>
              <a:gd name="adj" fmla="val 15789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46634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→ 224×224  |  Augmentation  |  Chuẩn hóa ImageNet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MÔ HÌNH SO SÁNH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600200" cy="3886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0149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Classical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965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+ XGBoost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" y="2697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features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4,096 chiều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32688" y="3520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3529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103120" y="960120"/>
            <a:ext cx="1600200" cy="3886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148840" y="10058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148840" y="10149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Classical</a:t>
            </a:r>
            <a:endParaRPr lang="en-US" sz="9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1417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8840" y="1965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+ SVM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148840" y="2697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 kernel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670048" y="35204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2670048" y="3529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3840480" y="960120"/>
            <a:ext cx="1600200" cy="3886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886200" y="10058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886200" y="10149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4173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86200" y="1965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886200" y="2697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epochs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407408" y="35204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407408" y="3529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577840" y="960120"/>
            <a:ext cx="1600200" cy="3886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623560" y="10058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5623560" y="10149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9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41732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623560" y="1965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623560" y="2697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144768" y="35204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6144768" y="3529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7315200" y="960120"/>
            <a:ext cx="1600200" cy="3886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7360920" y="100584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7360920" y="10149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9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1417320"/>
            <a:ext cx="457200" cy="45720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360920" y="19659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ViT-B/16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7360920" y="269748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patches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882128" y="352044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7882128" y="35295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365760" y="464515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Ngoài ra: Mô hình Ensemble kết hợp xác suất của ResNet50 + XGBoost theo trọng số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ML CỔ ĐIỂN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32×32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746504" y="1289304"/>
            <a:ext cx="23774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93392" y="9601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93392" y="9601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(Fourier)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65576" y="1289304"/>
            <a:ext cx="23774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12464" y="9601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12464" y="9601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4,096D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84648" y="1289304"/>
            <a:ext cx="23774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31536" y="9601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31536" y="9601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SVM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1289304"/>
            <a:ext cx="23774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50608" y="96012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0608" y="96012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/ FAKE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78308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+ XGBoost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6596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cây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max_depth: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2633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9809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learning_rate: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65960" y="2980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33284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time: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3328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giây (CPU)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721608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84.19%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069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0" y="3721608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28800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828800" y="4069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721608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200400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00400" y="4069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GPU, huấn luyện nhanh — phù hợp baseline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178308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92040" y="18288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+ SVM (RBF)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92040" y="2286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2286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RBF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26334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26334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92040" y="29809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29809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4,780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3284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set: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3328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 ảnh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892040" y="3721608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92040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82.74%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892040" y="4069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721608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63640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263640" y="4069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635240" y="3721608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635240" y="3749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635240" y="406908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92040" y="44348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Ranh giới phi tuyến phức tạp trong không gian FFT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CNN (DEEP LEARNING)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75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87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lớp  •  Residual Connection  •  25.6M params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57200" y="1773936"/>
            <a:ext cx="393192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74520" y="1874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7452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epochs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" y="2606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74520" y="2606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" y="29718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87452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lr=1e-4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" y="33375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87452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ảnh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57200" y="3776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98.61%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828800" y="37490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828800" y="3776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28800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0" y="37490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200400" y="3776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0.9991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200400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7200" y="445312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0.1365 → 0.0109 qua 5 epochs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91440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1E3A5F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987552"/>
            <a:ext cx="384048" cy="38404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49240" y="98755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4892040" y="1417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Scaling  •  Width/Depth/Resolution  •  5.3M params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4892040" y="1773936"/>
            <a:ext cx="3931920" cy="0"/>
          </a:xfrm>
          <a:prstGeom prst="line">
            <a:avLst/>
          </a:prstGeom>
          <a:noFill/>
          <a:ln w="9525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4937760" y="18745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Pretrained: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309360" y="1874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937760" y="2240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Fine-tune: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309360" y="2240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epochs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4937760" y="26060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309360" y="26060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937760" y="29718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309360" y="29718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lr=1e-4</a:t>
            </a:r>
            <a:endParaRPr lang="en-US" sz="1050" dirty="0"/>
          </a:p>
        </p:txBody>
      </p:sp>
      <p:sp>
        <p:nvSpPr>
          <p:cNvPr id="42" name="Text 38"/>
          <p:cNvSpPr/>
          <p:nvPr/>
        </p:nvSpPr>
        <p:spPr>
          <a:xfrm>
            <a:off x="4937760" y="33375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set: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309360" y="3337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ảnh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4892040" y="37490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4892040" y="3776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98.49%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4892040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6263640" y="37490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6263640" y="3776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0.985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6263640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7635240" y="374904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7635240" y="377647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0.9988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7635240" y="409651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4892040" y="445312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Nhỏ hơn ResNet50 ~5x nhưng kết quả tương đương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VISION TRANSFORMER — ViT-B/16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4069080"/>
          </a:xfrm>
          <a:prstGeom prst="roundRect">
            <a:avLst>
              <a:gd name="adj" fmla="val 2247"/>
            </a:avLst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ViT-B/16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224×224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9748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938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Patches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97480" y="19385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patch 16×16 px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23160" y="2304288"/>
            <a:ext cx="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395728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41401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Embeddings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97480" y="24140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Position encoding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2779776"/>
            <a:ext cx="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2920" y="2871216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28895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 Transformer Block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97480" y="28895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Self-Attention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23160" y="3255264"/>
            <a:ext cx="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346704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3649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 Token → MLP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97480" y="336499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3730752"/>
            <a:ext cx="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" y="3822192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/ FAKE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97480" y="38404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914400"/>
            <a:ext cx="4114800" cy="4069080"/>
          </a:xfrm>
          <a:prstGeom prst="roundRect">
            <a:avLst>
              <a:gd name="adj" fmla="val 2247"/>
            </a:avLst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số &amp; Kết quả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14630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55080" y="146304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ViT-B/16 (pretrained)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18105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181051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86M parameters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21579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size: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2157984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× 16 px  →  196 patches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25054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limit: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2505456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ảnh (Colab T4)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28529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set: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55080" y="2852928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ảnh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46320" y="320040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3200400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46320" y="354787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55080" y="354787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lr=2e-5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73168" y="376732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3168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98.80%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773168" y="41422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44768" y="376732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44768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0.988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144768" y="41422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16368" y="3767328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B2A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16368" y="37947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0.9990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516368" y="41422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09160" y="4526280"/>
            <a:ext cx="411480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54880" y="45445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Accuracy cao nhất trong 5 mô hình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0515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10,000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14904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4,214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105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23160" y="14630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14904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3160" y="18105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21488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1762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963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23160" y="21488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23160" y="21762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23160" y="24963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132588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REAL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23160" y="132588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FAKE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10515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4630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14904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9,836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06440" y="18105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58000" y="14630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14904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8105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806440" y="21488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06440" y="21762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06440" y="24963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214884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217627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9,885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0" y="24963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06440" y="132588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REAL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132588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FAKE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320040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80360" y="32918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20,000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371600" y="37033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371600" y="37307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9,804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71600" y="40507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23160" y="37033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423160" y="37307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423160" y="40507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371600" y="43891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371600" y="4416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371600" y="47365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423160" y="43891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423160" y="4416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9,893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2423160" y="47365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371600" y="356616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REAL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423160" y="356616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FAKE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54880" y="3200400"/>
            <a:ext cx="4206240" cy="2103120"/>
          </a:xfrm>
          <a:prstGeom prst="roundRect">
            <a:avLst>
              <a:gd name="adj" fmla="val 4348"/>
            </a:avLst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920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ViT-B/16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0" y="32918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4,000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06440" y="37033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806440" y="37307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1,974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806440" y="40507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858000" y="37033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858000" y="37307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858000" y="40507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806440" y="43891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806440" y="4416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806440" y="47365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858000" y="4389120"/>
            <a:ext cx="960120" cy="594360"/>
          </a:xfrm>
          <a:prstGeom prst="roundRect">
            <a:avLst>
              <a:gd name="adj" fmla="val 7692"/>
            </a:avLst>
          </a:prstGeom>
          <a:solidFill>
            <a:srgbClr val="22C55E">
              <a:alpha val="6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858000" y="441655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1,978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858000" y="473659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806440" y="356616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REAL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58000" y="3566160"/>
            <a:ext cx="960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FAKE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20040" y="4663440"/>
            <a:ext cx="850392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4681728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= Đúng REAL  |  TN = Đúng FAKE  |  FP = Nhầm REAL → FAKE  |  FN = Nhầm FAKE → REAL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CURVE &amp; AUC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53035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914400"/>
            <a:ext cx="3017520" cy="4023360"/>
          </a:xfrm>
          <a:prstGeom prst="roundRect">
            <a:avLst>
              <a:gd name="adj" fmla="val 3030"/>
            </a:avLst>
          </a:prstGeom>
          <a:solidFill>
            <a:srgbClr val="1E3A5F"/>
          </a:solidFill>
          <a:ln w="12700">
            <a:solidFill>
              <a:srgbClr val="2A4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0" y="1005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Ranking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46304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89320" y="149047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82512" y="15087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ViT-B/16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82512" y="17647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121408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89320" y="214884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82512" y="21671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382512" y="242316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779776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89320" y="280720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82512" y="2825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382512" y="30815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0.9988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943600" y="3438144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989320" y="346557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82512" y="3483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382512" y="3739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0.9205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943600" y="4096512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989320" y="412394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382512" y="4142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382512" y="43982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0.9044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CÁC MÔ HÌNH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914400"/>
          <a:ext cx="3108960" cy="34747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hình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FFT-XGBoost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84.19%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FFT-SVM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82.74%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98.61%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EfficientNet-B0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98.49%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ViT-B/16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98.80%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vượt trội hơn ML cổ điển ~14–16 điểm phần trăm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TÍCH KẾT QUẢ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247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vs ML Cổ Điển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~15% cho thấy đặc trưng FFT không đủ. Mạng sâu học được đặc trưng đa tầng từ cạnh, texture đến cấu trúc toàn cục.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960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905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430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2471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 vượt trội với ít dữ liệu hơn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37760" y="164592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 chỉ train trên 20K ảnh, ViT-B/16 đạt 98.80% — xác nhận ưu thế của Self-Attention trong học quan hệ không gian toàn cục.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9718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154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13639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 — Lựa chọn thực tế nhất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02920" y="3657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98.49% với số tham số nhỏ hơn nhiều so với ResNet50. Phù hợp triển khai trong môi trường có giới hạn tài nguyên.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97180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546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136392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Shift — Thách thức thực tế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37760" y="3657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thật chụp bằng camera (1360×1360px) đôi khi bị nhận sai do khác phân phối với CIFAKE 32×32px.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ỨNG DỤNG STREAMLIT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657600" cy="3977640"/>
          </a:xfrm>
          <a:prstGeom prst="roundRect">
            <a:avLst>
              <a:gd name="adj" fmla="val 2500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ứng dụng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ảnh bất kỳ (JPG, PNG)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inference 5 mô hình song song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Hiển thị P(FAKE) từng mô hình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FFT Spectrum trực quan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Ensemble tổng hợp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model từ Google Drive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12471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1247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12080" y="103327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ảnh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1746504"/>
            <a:ext cx="0" cy="1737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208483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19933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xử lý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FFT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2706624"/>
            <a:ext cx="0" cy="1737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880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254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044952"/>
            <a:ext cx="438912" cy="43891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3044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295351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Models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3666744"/>
            <a:ext cx="0" cy="173736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84048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4005072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12080" y="391363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ound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Kết Luận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ViT-B/16: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00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98.80%  — Accuracy cao nhất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22199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98.61%  — Ổn định, đầy đủ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4378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EfficientNet-B0: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84378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Tốt nhất về chi phí/hiệu suất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46557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Vượt ML cổ điển ~14–16%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08736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App: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40873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hoạt động thực tế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Hướng Phát Triển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1572768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dataset với ảnh độ phân giải cao và từ các mô hình mới (SD3, Midjourney)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Tích hợp Grad-CAM để giải thích vùng ảnh mô hình chú trọng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gói REST API hoặc ứng dụng di động để triển khai rộng rãi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phát hiện ảnh deepfake video theo từng frame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XIN TRÂN TRỌNG CẢM ƠN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7160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37160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3192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93192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nhất (ViT)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30175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120K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92240" y="36118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1664</Words>
  <Application>Microsoft Office PowerPoint</Application>
  <PresentationFormat>On-screen Show (16:9)</PresentationFormat>
  <Paragraphs>389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Phát Hiện Ảnh AI-Generated bằng Machine Learning</dc:title>
  <dc:subject>PptxGenJS Presentation</dc:subject>
  <dc:creator>AI Image Detection Team</dc:creator>
  <cp:lastModifiedBy>N</cp:lastModifiedBy>
  <cp:revision>2</cp:revision>
  <dcterms:created xsi:type="dcterms:W3CDTF">2026-06-25T23:10:54Z</dcterms:created>
  <dcterms:modified xsi:type="dcterms:W3CDTF">2026-06-26T09:57:33Z</dcterms:modified>
</cp:coreProperties>
</file>